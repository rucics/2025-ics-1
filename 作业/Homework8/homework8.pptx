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9" r:id="rId3"/>
    <p:sldId id="270" r:id="rId4"/>
    <p:sldId id="272" r:id="rId5"/>
    <p:sldId id="266" r:id="rId6"/>
    <p:sldId id="267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03"/>
    <p:restoredTop sz="94655"/>
  </p:normalViewPr>
  <p:slideViewPr>
    <p:cSldViewPr snapToGrid="0" snapToObjects="1">
      <p:cViewPr varScale="1">
        <p:scale>
          <a:sx n="117" d="100"/>
          <a:sy n="117" d="100"/>
        </p:scale>
        <p:origin x="5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8DA6B6-36FF-6F40-89DF-801D3511F187}" type="datetimeFigureOut">
              <a:rPr kumimoji="1" lang="zh-CN" altLang="en-US" smtClean="0"/>
              <a:t>2025/11/19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EA410C-B627-B44F-87AA-5EC4395C7E7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254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  <a:t>2025/11/19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83071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  <a:t>2025/11/19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22110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  <a:t>2025/11/19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01659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  <a:t>2025/11/19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59620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  <a:t>2025/11/19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32579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  <a:t>2025/11/19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42009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  <a:t>2025/11/19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97901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  <a:t>2025/11/19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49065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  <a:t>2025/11/19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97326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  <a:t>2025/11/19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38234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  <a:t>2025/11/19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1119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0D3554-FB1A-8444-BC32-63F3C4EDF6C5}" type="datetimeFigureOut">
              <a:rPr kumimoji="1" lang="zh-CN" altLang="en-US" smtClean="0"/>
              <a:t>2025/11/19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80771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/>
              <a:t>Homework8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54289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Homework8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16809"/>
          </a:xfrm>
        </p:spPr>
        <p:txBody>
          <a:bodyPr>
            <a:normAutofit lnSpcReduction="10000"/>
          </a:bodyPr>
          <a:lstStyle/>
          <a:p>
            <a:r>
              <a:rPr kumimoji="1" lang="zh-CN" altLang="en-US" dirty="0"/>
              <a:t>题目</a:t>
            </a:r>
            <a:r>
              <a:rPr kumimoji="1" lang="en-US" altLang="zh-CN" dirty="0"/>
              <a:t>1</a:t>
            </a:r>
          </a:p>
          <a:p>
            <a:pPr lvl="1"/>
            <a:r>
              <a:rPr lang="en-US" altLang="zh-CN" dirty="0"/>
              <a:t>Consider the following program: #define LEN 10</a:t>
            </a:r>
            <a:br>
              <a:rPr lang="en-US" altLang="zh-CN" dirty="0"/>
            </a:br>
            <a:r>
              <a:rPr lang="en-US" altLang="zh-CN" dirty="0" err="1"/>
              <a:t>int</a:t>
            </a:r>
            <a:r>
              <a:rPr lang="en-US" altLang="zh-CN" dirty="0"/>
              <a:t> a[LEN][LEN];</a:t>
            </a:r>
            <a:br>
              <a:rPr lang="en-US" altLang="zh-CN" dirty="0"/>
            </a:br>
            <a:r>
              <a:rPr lang="en-US" altLang="zh-CN" dirty="0"/>
              <a:t>void f(void) { </a:t>
            </a:r>
          </a:p>
          <a:p>
            <a:pPr lvl="1"/>
            <a:r>
              <a:rPr lang="zh-CN" altLang="en-US" dirty="0"/>
              <a:t>  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, j;</a:t>
            </a:r>
            <a:br>
              <a:rPr lang="en-US" altLang="zh-CN" dirty="0"/>
            </a:br>
            <a:r>
              <a:rPr lang="zh-CN" altLang="en-US" dirty="0"/>
              <a:t>   </a:t>
            </a:r>
            <a:r>
              <a:rPr lang="en-US" altLang="zh-CN" dirty="0"/>
              <a:t>for (</a:t>
            </a:r>
            <a:r>
              <a:rPr lang="en-US" altLang="zh-CN" dirty="0" err="1"/>
              <a:t>i</a:t>
            </a:r>
            <a:r>
              <a:rPr lang="en-US" altLang="zh-CN" dirty="0"/>
              <a:t> = 0; </a:t>
            </a:r>
            <a:r>
              <a:rPr lang="en-US" altLang="zh-CN" dirty="0" err="1"/>
              <a:t>i</a:t>
            </a:r>
            <a:r>
              <a:rPr lang="en-US" altLang="zh-CN" dirty="0"/>
              <a:t> &lt; LEN; </a:t>
            </a:r>
            <a:r>
              <a:rPr lang="en-US" altLang="zh-CN" dirty="0" err="1"/>
              <a:t>i</a:t>
            </a:r>
            <a:r>
              <a:rPr lang="en-US" altLang="zh-CN" dirty="0"/>
              <a:t>++) </a:t>
            </a:r>
          </a:p>
          <a:p>
            <a:pPr lvl="1"/>
            <a:r>
              <a:rPr lang="zh-CN" altLang="en-US" dirty="0"/>
              <a:t>      </a:t>
            </a:r>
            <a:r>
              <a:rPr lang="en-US" altLang="zh-CN" dirty="0"/>
              <a:t>for (j = 0; j &lt; LEN; </a:t>
            </a:r>
            <a:r>
              <a:rPr lang="en-US" altLang="zh-CN" dirty="0" err="1"/>
              <a:t>j++</a:t>
            </a:r>
            <a:r>
              <a:rPr lang="en-US" altLang="zh-CN" dirty="0"/>
              <a:t>) { </a:t>
            </a:r>
          </a:p>
          <a:p>
            <a:pPr lvl="1"/>
            <a:r>
              <a:rPr lang="zh-CN" altLang="en-US" dirty="0"/>
              <a:t>      </a:t>
            </a:r>
            <a:r>
              <a:rPr lang="en-US" altLang="zh-CN" dirty="0"/>
              <a:t>a[</a:t>
            </a:r>
            <a:r>
              <a:rPr lang="en-US" altLang="zh-CN" dirty="0" err="1"/>
              <a:t>i</a:t>
            </a:r>
            <a:r>
              <a:rPr lang="en-US" altLang="zh-CN" dirty="0"/>
              <a:t>][j] = </a:t>
            </a:r>
            <a:r>
              <a:rPr lang="en-US" altLang="zh-CN" dirty="0" err="1"/>
              <a:t>i</a:t>
            </a:r>
            <a:r>
              <a:rPr lang="en-US" altLang="zh-CN" dirty="0"/>
              <a:t> * LEN + j; </a:t>
            </a:r>
          </a:p>
          <a:p>
            <a:pPr lvl="1"/>
            <a:r>
              <a:rPr lang="zh-CN" altLang="en-US" dirty="0"/>
              <a:t>    </a:t>
            </a:r>
            <a:r>
              <a:rPr lang="en-US" altLang="zh-CN" dirty="0"/>
              <a:t>} </a:t>
            </a:r>
          </a:p>
          <a:p>
            <a:pPr lvl="1"/>
            <a:r>
              <a:rPr lang="en-US" altLang="zh-CN" dirty="0"/>
              <a:t>} </a:t>
            </a:r>
          </a:p>
          <a:p>
            <a:pPr lvl="1"/>
            <a:r>
              <a:rPr lang="en-US" altLang="zh-CN" dirty="0"/>
              <a:t>Suppose the address of a is 0x10000000. After the function f() finished, fill the following table (if you don’t know the value, please write NONE): </a:t>
            </a:r>
          </a:p>
          <a:p>
            <a:pPr lvl="1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14467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Homework8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题目</a:t>
            </a:r>
            <a:r>
              <a:rPr kumimoji="1" lang="en-US" altLang="zh-CN" dirty="0"/>
              <a:t>1</a:t>
            </a:r>
          </a:p>
          <a:p>
            <a:endParaRPr kumimoji="1"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2621065"/>
              </p:ext>
            </p:extLst>
          </p:nvPr>
        </p:nvGraphicFramePr>
        <p:xfrm>
          <a:off x="1644445" y="2629694"/>
          <a:ext cx="8305800" cy="2743200"/>
        </p:xfrm>
        <a:graphic>
          <a:graphicData uri="http://schemas.openxmlformats.org/drawingml/2006/table">
            <a:tbl>
              <a:tblPr/>
              <a:tblGrid>
                <a:gridCol w="415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mr-IN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%eax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s-IS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0x10000000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mr-IN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%ecx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22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is-IS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$0x10000004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is-IS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0x10000012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0xFFFFFF8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mr-IN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(%eax, %ecx, 8)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7617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Homework8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73446"/>
          </a:xfrm>
        </p:spPr>
        <p:txBody>
          <a:bodyPr/>
          <a:lstStyle/>
          <a:p>
            <a:r>
              <a:rPr kumimoji="1" lang="zh-CN" altLang="en-US" dirty="0"/>
              <a:t>题目</a:t>
            </a:r>
            <a:r>
              <a:rPr kumimoji="1" lang="en-US" altLang="zh-CN" dirty="0"/>
              <a:t>2</a:t>
            </a:r>
          </a:p>
          <a:p>
            <a:endParaRPr kumimoji="1" lang="zh-CN" altLang="en-US" dirty="0"/>
          </a:p>
          <a:p>
            <a:endParaRPr kumimoji="1" lang="zh-CN" altLang="en-US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1017639" y="2534008"/>
            <a:ext cx="4911213" cy="4419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/>
              <a:t>Fill the blanks </a:t>
            </a:r>
            <a:r>
              <a:rPr lang="en-US" altLang="zh-CN" sz="2400"/>
              <a:t>of the C program:</a:t>
            </a:r>
            <a:endParaRPr lang="en-US" altLang="zh-CN" sz="2400" dirty="0"/>
          </a:p>
          <a:p>
            <a:pPr>
              <a:buFontTx/>
              <a:buNone/>
            </a:pP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dw_loop</a:t>
            </a:r>
            <a:r>
              <a:rPr lang="en-US" altLang="zh-CN" sz="2400" dirty="0"/>
              <a:t>(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x,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y,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n) {</a:t>
            </a:r>
          </a:p>
          <a:p>
            <a:pPr>
              <a:buFontTx/>
              <a:buNone/>
            </a:pPr>
            <a:r>
              <a:rPr lang="en-US" altLang="zh-CN" sz="2400" dirty="0"/>
              <a:t>     do{</a:t>
            </a:r>
          </a:p>
          <a:p>
            <a:pPr>
              <a:buFontTx/>
              <a:buNone/>
            </a:pPr>
            <a:r>
              <a:rPr lang="en-US" altLang="zh-CN" sz="2400" dirty="0"/>
              <a:t>	</a:t>
            </a:r>
          </a:p>
          <a:p>
            <a:pPr>
              <a:buFontTx/>
              <a:buNone/>
            </a:pPr>
            <a:endParaRPr lang="en-US" altLang="zh-CN" sz="2400" dirty="0"/>
          </a:p>
          <a:p>
            <a:pPr>
              <a:buFontTx/>
              <a:buNone/>
            </a:pPr>
            <a:r>
              <a:rPr lang="en-US" altLang="zh-CN" sz="2400" dirty="0"/>
              <a:t>      }while (        );</a:t>
            </a:r>
          </a:p>
          <a:p>
            <a:pPr>
              <a:buFontTx/>
              <a:buNone/>
            </a:pPr>
            <a:r>
              <a:rPr lang="en-US" altLang="zh-CN" sz="2400" dirty="0"/>
              <a:t>      </a:t>
            </a:r>
            <a:r>
              <a:rPr lang="en-US" altLang="zh-CN" sz="2400" dirty="0" err="1"/>
              <a:t>returen</a:t>
            </a:r>
            <a:r>
              <a:rPr lang="en-US" altLang="zh-CN" sz="2400" dirty="0"/>
              <a:t> x;</a:t>
            </a:r>
          </a:p>
          <a:p>
            <a:pPr>
              <a:buFontTx/>
              <a:buNone/>
            </a:pPr>
            <a:r>
              <a:rPr lang="en-US" altLang="zh-CN" sz="2400" dirty="0"/>
              <a:t>}</a:t>
            </a:r>
            <a:endParaRPr lang="zh-CN" altLang="en-US" sz="2400" dirty="0"/>
          </a:p>
        </p:txBody>
      </p:sp>
      <p:sp>
        <p:nvSpPr>
          <p:cNvPr id="5" name="内容占位符 3"/>
          <p:cNvSpPr txBox="1">
            <a:spLocks/>
          </p:cNvSpPr>
          <p:nvPr/>
        </p:nvSpPr>
        <p:spPr>
          <a:xfrm>
            <a:off x="6887497" y="627012"/>
            <a:ext cx="4038600" cy="513556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/>
              <a:t>The assembly code is as follows:</a:t>
            </a:r>
          </a:p>
          <a:p>
            <a:r>
              <a:rPr lang="en-US" altLang="zh-CN" sz="2000" dirty="0"/>
              <a:t>x@%ebp+8, y@%ebp+12, n@%ebp+16</a:t>
            </a:r>
          </a:p>
          <a:p>
            <a:pPr>
              <a:buFontTx/>
              <a:buNone/>
            </a:pPr>
            <a:r>
              <a:rPr lang="en-US" altLang="zh-CN" sz="2000" dirty="0"/>
              <a:t>  </a:t>
            </a:r>
            <a:r>
              <a:rPr lang="en-US" altLang="zh-CN" sz="2000" dirty="0" err="1"/>
              <a:t>movl</a:t>
            </a:r>
            <a:r>
              <a:rPr lang="en-US" altLang="zh-CN" sz="2000" dirty="0"/>
              <a:t> 8(%</a:t>
            </a:r>
            <a:r>
              <a:rPr lang="en-US" altLang="zh-CN" sz="2000" dirty="0" err="1"/>
              <a:t>ebp</a:t>
            </a:r>
            <a:r>
              <a:rPr lang="en-US" altLang="zh-CN" sz="2000" dirty="0"/>
              <a:t>), %</a:t>
            </a:r>
            <a:r>
              <a:rPr lang="en-US" altLang="zh-CN" sz="2000" dirty="0" err="1"/>
              <a:t>eax</a:t>
            </a:r>
            <a:endParaRPr lang="en-US" altLang="zh-CN" sz="2000" dirty="0"/>
          </a:p>
          <a:p>
            <a:pPr>
              <a:buFontTx/>
              <a:buNone/>
            </a:pPr>
            <a:r>
              <a:rPr lang="en-US" altLang="zh-CN" sz="2000" dirty="0"/>
              <a:t>  </a:t>
            </a:r>
            <a:r>
              <a:rPr lang="en-US" altLang="zh-CN" sz="2000" dirty="0" err="1"/>
              <a:t>movl</a:t>
            </a:r>
            <a:r>
              <a:rPr lang="en-US" altLang="zh-CN" sz="2000" dirty="0"/>
              <a:t> 12(%</a:t>
            </a:r>
            <a:r>
              <a:rPr lang="en-US" altLang="zh-CN" sz="2000" dirty="0" err="1"/>
              <a:t>ebp</a:t>
            </a:r>
            <a:r>
              <a:rPr lang="en-US" altLang="zh-CN" sz="2000" dirty="0"/>
              <a:t>), %</a:t>
            </a:r>
            <a:r>
              <a:rPr lang="en-US" altLang="zh-CN" sz="2000" dirty="0" err="1"/>
              <a:t>ecx</a:t>
            </a:r>
            <a:endParaRPr lang="en-US" altLang="zh-CN" sz="2000" dirty="0"/>
          </a:p>
          <a:p>
            <a:pPr>
              <a:buFontTx/>
              <a:buNone/>
            </a:pPr>
            <a:r>
              <a:rPr lang="en-US" altLang="zh-CN" sz="2000" dirty="0"/>
              <a:t>  </a:t>
            </a:r>
            <a:r>
              <a:rPr lang="en-US" altLang="zh-CN" sz="2000" dirty="0" err="1"/>
              <a:t>movl</a:t>
            </a:r>
            <a:r>
              <a:rPr lang="en-US" altLang="zh-CN" sz="2000" dirty="0"/>
              <a:t> 16(%</a:t>
            </a:r>
            <a:r>
              <a:rPr lang="en-US" altLang="zh-CN" sz="2000" dirty="0" err="1"/>
              <a:t>ebp</a:t>
            </a:r>
            <a:r>
              <a:rPr lang="en-US" altLang="zh-CN" sz="2000" dirty="0"/>
              <a:t>), %</a:t>
            </a:r>
            <a:r>
              <a:rPr lang="en-US" altLang="zh-CN" sz="2000" dirty="0" err="1"/>
              <a:t>edx</a:t>
            </a:r>
            <a:endParaRPr lang="en-US" altLang="zh-CN" sz="2000" dirty="0"/>
          </a:p>
          <a:p>
            <a:pPr>
              <a:buFontTx/>
              <a:buNone/>
            </a:pPr>
            <a:r>
              <a:rPr lang="en-US" altLang="zh-CN" sz="2000" dirty="0"/>
              <a:t>.L2:</a:t>
            </a:r>
          </a:p>
          <a:p>
            <a:pPr>
              <a:buFontTx/>
              <a:buNone/>
            </a:pPr>
            <a:r>
              <a:rPr lang="en-US" altLang="zh-CN" sz="2000" dirty="0"/>
              <a:t>  </a:t>
            </a:r>
            <a:r>
              <a:rPr lang="en-US" altLang="zh-CN" sz="2000" dirty="0" err="1"/>
              <a:t>addl</a:t>
            </a:r>
            <a:r>
              <a:rPr lang="en-US" altLang="zh-CN" sz="2000" dirty="0"/>
              <a:t> %</a:t>
            </a:r>
            <a:r>
              <a:rPr lang="en-US" altLang="zh-CN" sz="2000" dirty="0" err="1"/>
              <a:t>edx</a:t>
            </a:r>
            <a:r>
              <a:rPr lang="en-US" altLang="zh-CN" sz="2000" dirty="0"/>
              <a:t>, %</a:t>
            </a:r>
            <a:r>
              <a:rPr lang="en-US" altLang="zh-CN" sz="2000" dirty="0" err="1"/>
              <a:t>eax</a:t>
            </a:r>
            <a:endParaRPr lang="en-US" altLang="zh-CN" sz="2000" dirty="0"/>
          </a:p>
          <a:p>
            <a:pPr>
              <a:buFontTx/>
              <a:buNone/>
            </a:pPr>
            <a:r>
              <a:rPr lang="en-US" altLang="zh-CN" sz="2000" dirty="0"/>
              <a:t>  </a:t>
            </a:r>
            <a:r>
              <a:rPr lang="en-US" altLang="zh-CN" sz="2000" dirty="0" err="1"/>
              <a:t>imull</a:t>
            </a:r>
            <a:r>
              <a:rPr lang="en-US" altLang="zh-CN" sz="2000" dirty="0"/>
              <a:t> %</a:t>
            </a:r>
            <a:r>
              <a:rPr lang="en-US" altLang="zh-CN" sz="2000" dirty="0" err="1"/>
              <a:t>edx</a:t>
            </a:r>
            <a:r>
              <a:rPr lang="en-US" altLang="zh-CN" sz="2000" dirty="0"/>
              <a:t>, %</a:t>
            </a:r>
            <a:r>
              <a:rPr lang="en-US" altLang="zh-CN" sz="2000" dirty="0" err="1"/>
              <a:t>ecx</a:t>
            </a:r>
            <a:endParaRPr lang="en-US" altLang="zh-CN" sz="2000" dirty="0"/>
          </a:p>
          <a:p>
            <a:pPr>
              <a:buFontTx/>
              <a:buNone/>
            </a:pPr>
            <a:r>
              <a:rPr lang="en-US" altLang="zh-CN" sz="2000" dirty="0"/>
              <a:t>  </a:t>
            </a:r>
            <a:r>
              <a:rPr lang="en-US" altLang="zh-CN" sz="2000" dirty="0" err="1"/>
              <a:t>subl</a:t>
            </a:r>
            <a:r>
              <a:rPr lang="en-US" altLang="zh-CN" sz="2000" dirty="0"/>
              <a:t> $1, %</a:t>
            </a:r>
            <a:r>
              <a:rPr lang="en-US" altLang="zh-CN" sz="2000" dirty="0" err="1"/>
              <a:t>edx</a:t>
            </a:r>
            <a:endParaRPr lang="en-US" altLang="zh-CN" sz="2000" dirty="0"/>
          </a:p>
          <a:p>
            <a:pPr>
              <a:buFontTx/>
              <a:buNone/>
            </a:pPr>
            <a:r>
              <a:rPr lang="en-US" altLang="zh-CN" sz="2000" dirty="0"/>
              <a:t>  </a:t>
            </a:r>
            <a:r>
              <a:rPr lang="en-US" altLang="zh-CN" sz="2000" dirty="0" err="1"/>
              <a:t>testl</a:t>
            </a:r>
            <a:r>
              <a:rPr lang="en-US" altLang="zh-CN" sz="2000" dirty="0"/>
              <a:t> %</a:t>
            </a:r>
            <a:r>
              <a:rPr lang="en-US" altLang="zh-CN" sz="2000" dirty="0" err="1"/>
              <a:t>edx</a:t>
            </a:r>
            <a:r>
              <a:rPr lang="en-US" altLang="zh-CN" sz="2000" dirty="0"/>
              <a:t>, %</a:t>
            </a:r>
            <a:r>
              <a:rPr lang="en-US" altLang="zh-CN" sz="2000" dirty="0" err="1"/>
              <a:t>edx</a:t>
            </a:r>
            <a:endParaRPr lang="en-US" altLang="zh-CN" sz="2000" dirty="0"/>
          </a:p>
          <a:p>
            <a:pPr>
              <a:buFontTx/>
              <a:buNone/>
            </a:pPr>
            <a:r>
              <a:rPr lang="en-US" altLang="zh-CN" sz="2000" dirty="0"/>
              <a:t>  </a:t>
            </a:r>
            <a:r>
              <a:rPr lang="en-US" altLang="zh-CN" sz="2000" dirty="0" err="1"/>
              <a:t>jle</a:t>
            </a:r>
            <a:r>
              <a:rPr lang="en-US" altLang="zh-CN" sz="2000" dirty="0"/>
              <a:t>  .L5</a:t>
            </a:r>
          </a:p>
          <a:p>
            <a:pPr>
              <a:buFontTx/>
              <a:buNone/>
            </a:pPr>
            <a:r>
              <a:rPr lang="en-US" altLang="zh-CN" sz="2000" dirty="0"/>
              <a:t>  </a:t>
            </a:r>
            <a:r>
              <a:rPr lang="en-US" altLang="zh-CN" sz="2000" dirty="0" err="1"/>
              <a:t>cmpl</a:t>
            </a:r>
            <a:r>
              <a:rPr lang="en-US" altLang="zh-CN" sz="2000" dirty="0"/>
              <a:t> %</a:t>
            </a:r>
            <a:r>
              <a:rPr lang="en-US" altLang="zh-CN" sz="2000" dirty="0" err="1"/>
              <a:t>edx</a:t>
            </a:r>
            <a:r>
              <a:rPr lang="en-US" altLang="zh-CN" sz="2000" dirty="0"/>
              <a:t>, %</a:t>
            </a:r>
            <a:r>
              <a:rPr lang="en-US" altLang="zh-CN" sz="2000" dirty="0" err="1"/>
              <a:t>ecx</a:t>
            </a:r>
            <a:endParaRPr lang="en-US" altLang="zh-CN" sz="2000" dirty="0"/>
          </a:p>
          <a:p>
            <a:pPr>
              <a:buFontTx/>
              <a:buNone/>
            </a:pPr>
            <a:r>
              <a:rPr lang="en-US" altLang="zh-CN" sz="2000" dirty="0"/>
              <a:t>  </a:t>
            </a:r>
            <a:r>
              <a:rPr lang="en-US" altLang="zh-CN" sz="2000" dirty="0" err="1"/>
              <a:t>jl</a:t>
            </a:r>
            <a:r>
              <a:rPr lang="en-US" altLang="zh-CN" sz="2000" dirty="0"/>
              <a:t> .L2</a:t>
            </a:r>
          </a:p>
          <a:p>
            <a:pPr>
              <a:buFontTx/>
              <a:buNone/>
            </a:pPr>
            <a:r>
              <a:rPr lang="en-US" altLang="zh-CN" sz="2000" dirty="0"/>
              <a:t>.L5:</a:t>
            </a:r>
          </a:p>
          <a:p>
            <a:pPr>
              <a:buFontTx/>
              <a:buNone/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853147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Homework8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50910" cy="4351338"/>
          </a:xfrm>
        </p:spPr>
        <p:txBody>
          <a:bodyPr/>
          <a:lstStyle/>
          <a:p>
            <a:r>
              <a:rPr kumimoji="1" lang="zh-CN" altLang="en-US" dirty="0"/>
              <a:t>题目</a:t>
            </a:r>
            <a:r>
              <a:rPr kumimoji="1" lang="en-US" altLang="zh-CN" dirty="0"/>
              <a:t>3</a:t>
            </a:r>
          </a:p>
          <a:p>
            <a:pPr lvl="1"/>
            <a:r>
              <a:rPr lang="en-US" altLang="zh-CN" dirty="0"/>
              <a:t>After ICS class, </a:t>
            </a:r>
            <a:r>
              <a:rPr lang="en-US" altLang="zh-CN" dirty="0" err="1"/>
              <a:t>Barathrum</a:t>
            </a:r>
            <a:r>
              <a:rPr lang="en-US" altLang="zh-CN" dirty="0"/>
              <a:t> has written a function like below: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cmov_complex</a:t>
            </a:r>
            <a:r>
              <a:rPr lang="en-US" altLang="zh-CN" dirty="0"/>
              <a:t>(</a:t>
            </a:r>
            <a:r>
              <a:rPr lang="en-US" altLang="zh-CN" dirty="0" err="1"/>
              <a:t>int</a:t>
            </a:r>
            <a:r>
              <a:rPr lang="en-US" altLang="zh-CN" dirty="0"/>
              <a:t> x, </a:t>
            </a:r>
            <a:r>
              <a:rPr lang="en-US" altLang="zh-CN" dirty="0" err="1"/>
              <a:t>int</a:t>
            </a:r>
            <a:r>
              <a:rPr lang="en-US" altLang="zh-CN" dirty="0"/>
              <a:t> y) { </a:t>
            </a:r>
          </a:p>
          <a:p>
            <a:pPr lvl="1"/>
            <a:r>
              <a:rPr lang="en-US" altLang="zh-CN" dirty="0"/>
              <a:t>return x &lt; y? x * y; (x + y) * y; } </a:t>
            </a:r>
          </a:p>
          <a:p>
            <a:pPr lvl="1"/>
            <a:r>
              <a:rPr lang="en-US" altLang="zh-CN" dirty="0"/>
              <a:t>(1). Please write down the corresponding assembly code by using conditional move operations.</a:t>
            </a:r>
          </a:p>
          <a:p>
            <a:pPr lvl="1"/>
            <a:r>
              <a:rPr lang="en-US" altLang="zh-CN" dirty="0"/>
              <a:t>(2). When </a:t>
            </a:r>
            <a:r>
              <a:rPr lang="en-US" altLang="zh-CN" dirty="0" err="1"/>
              <a:t>Barathrum</a:t>
            </a:r>
            <a:r>
              <a:rPr lang="en-US" altLang="zh-CN" dirty="0"/>
              <a:t> compiles it with </a:t>
            </a:r>
            <a:r>
              <a:rPr lang="en-US" altLang="zh-CN" dirty="0" err="1"/>
              <a:t>gcc</a:t>
            </a:r>
            <a:r>
              <a:rPr lang="en-US" altLang="zh-CN" dirty="0"/>
              <a:t>, he finds that there’s no </a:t>
            </a:r>
            <a:r>
              <a:rPr lang="en-US" altLang="zh-CN" dirty="0" err="1"/>
              <a:t>cmov</a:t>
            </a:r>
            <a:r>
              <a:rPr lang="en-US" altLang="zh-CN" dirty="0"/>
              <a:t> at all in the assembly code! Please explain why </a:t>
            </a:r>
            <a:r>
              <a:rPr lang="en-US" altLang="zh-CN" dirty="0" err="1"/>
              <a:t>gcc</a:t>
            </a:r>
            <a:r>
              <a:rPr lang="en-US" altLang="zh-CN" dirty="0"/>
              <a:t> doesn’t use conditional move operations in this case.  </a:t>
            </a:r>
          </a:p>
        </p:txBody>
      </p:sp>
    </p:spTree>
    <p:extLst>
      <p:ext uri="{BB962C8B-B14F-4D97-AF65-F5344CB8AC3E}">
        <p14:creationId xmlns:p14="http://schemas.microsoft.com/office/powerpoint/2010/main" val="1900698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Homework8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825624"/>
            <a:ext cx="6368845" cy="4653833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题目</a:t>
            </a:r>
            <a:r>
              <a:rPr kumimoji="1" lang="en-US" altLang="zh-CN" dirty="0"/>
              <a:t>4</a:t>
            </a:r>
            <a:endParaRPr lang="en-US" altLang="zh-CN" dirty="0"/>
          </a:p>
          <a:p>
            <a:pPr lvl="1"/>
            <a:r>
              <a:rPr lang="en-US" altLang="zh-CN" dirty="0"/>
              <a:t>Translate the following switch statements into assembly using jump table. </a:t>
            </a:r>
          </a:p>
          <a:p>
            <a:pPr lvl="1"/>
            <a:r>
              <a:rPr lang="en-US" altLang="zh-CN" dirty="0" err="1"/>
              <a:t>int</a:t>
            </a:r>
            <a:r>
              <a:rPr lang="en-US" altLang="zh-CN" dirty="0"/>
              <a:t> x = &lt;some value&gt;; </a:t>
            </a:r>
          </a:p>
          <a:p>
            <a:pPr lvl="1"/>
            <a:r>
              <a:rPr lang="en-US" altLang="zh-CN" dirty="0" err="1"/>
              <a:t>int</a:t>
            </a:r>
            <a:r>
              <a:rPr lang="en-US" altLang="zh-CN" dirty="0"/>
              <a:t> result = 0;</a:t>
            </a:r>
          </a:p>
          <a:p>
            <a:pPr lvl="1"/>
            <a:r>
              <a:rPr lang="en-US" altLang="zh-CN" dirty="0"/>
              <a:t>switch (x) { </a:t>
            </a:r>
          </a:p>
          <a:p>
            <a:pPr lvl="2"/>
            <a:r>
              <a:rPr lang="en-US" altLang="zh-CN" dirty="0"/>
              <a:t>case 24:</a:t>
            </a:r>
          </a:p>
          <a:p>
            <a:pPr lvl="3"/>
            <a:r>
              <a:rPr lang="en-US" altLang="zh-CN" dirty="0"/>
              <a:t>result = x + x; </a:t>
            </a:r>
          </a:p>
          <a:p>
            <a:pPr lvl="3"/>
            <a:r>
              <a:rPr lang="en-US" altLang="zh-CN" dirty="0"/>
              <a:t>break;</a:t>
            </a:r>
          </a:p>
          <a:p>
            <a:pPr lvl="2"/>
            <a:r>
              <a:rPr lang="en-US" altLang="zh-CN" dirty="0"/>
              <a:t>case 27: case 28: </a:t>
            </a:r>
          </a:p>
          <a:p>
            <a:pPr lvl="3"/>
            <a:r>
              <a:rPr lang="en-US" altLang="zh-CN" dirty="0"/>
              <a:t>result = x + 10; </a:t>
            </a:r>
          </a:p>
          <a:p>
            <a:pPr lvl="3"/>
            <a:r>
              <a:rPr lang="en-US" altLang="zh-CN" dirty="0"/>
              <a:t>break; </a:t>
            </a:r>
          </a:p>
          <a:p>
            <a:pPr lvl="1"/>
            <a:endParaRPr kumimoji="1" lang="zh-CN" altLang="en-US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7003025" y="2821294"/>
            <a:ext cx="416641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en-US" altLang="zh-CN" dirty="0"/>
              <a:t>case 26: </a:t>
            </a:r>
          </a:p>
          <a:p>
            <a:pPr lvl="3"/>
            <a:r>
              <a:rPr lang="en-US" altLang="zh-CN" dirty="0"/>
              <a:t>result = x * 2; </a:t>
            </a:r>
          </a:p>
          <a:p>
            <a:pPr lvl="3"/>
            <a:r>
              <a:rPr lang="en-US" altLang="zh-CN" dirty="0"/>
              <a:t>// Notice: there is no break here! </a:t>
            </a:r>
          </a:p>
          <a:p>
            <a:pPr lvl="2"/>
            <a:r>
              <a:rPr lang="en-US" altLang="zh-CN" dirty="0"/>
              <a:t>case 29: case 30: </a:t>
            </a:r>
          </a:p>
          <a:p>
            <a:pPr lvl="3"/>
            <a:r>
              <a:rPr lang="en-US" altLang="zh-CN" dirty="0"/>
              <a:t>result = result + 5; </a:t>
            </a:r>
          </a:p>
          <a:p>
            <a:pPr lvl="3"/>
            <a:r>
              <a:rPr lang="en-US" altLang="zh-CN" dirty="0"/>
              <a:t>break; </a:t>
            </a:r>
          </a:p>
          <a:p>
            <a:pPr lvl="2"/>
            <a:r>
              <a:rPr lang="en-US" altLang="zh-CN" dirty="0"/>
              <a:t>default: </a:t>
            </a:r>
          </a:p>
          <a:p>
            <a:pPr lvl="3"/>
            <a:r>
              <a:rPr lang="en-US" altLang="zh-CN" dirty="0"/>
              <a:t>result = 3; </a:t>
            </a:r>
          </a:p>
          <a:p>
            <a:pPr lvl="3"/>
            <a:r>
              <a:rPr lang="en-US" altLang="zh-CN" dirty="0"/>
              <a:t>break; </a:t>
            </a:r>
          </a:p>
          <a:p>
            <a:pPr lvl="1"/>
            <a:r>
              <a:rPr lang="en-US" altLang="zh-CN" dirty="0"/>
              <a:t>} 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97354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462</Words>
  <Application>Microsoft Macintosh PowerPoint</Application>
  <PresentationFormat>宽屏</PresentationFormat>
  <Paragraphs>72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DengXian</vt:lpstr>
      <vt:lpstr>DengXian Light</vt:lpstr>
      <vt:lpstr>Arial</vt:lpstr>
      <vt:lpstr>Office 主题</vt:lpstr>
      <vt:lpstr>Homework8</vt:lpstr>
      <vt:lpstr>Homework8</vt:lpstr>
      <vt:lpstr>Homework8</vt:lpstr>
      <vt:lpstr>Homework8</vt:lpstr>
      <vt:lpstr>Homework8</vt:lpstr>
      <vt:lpstr>Homework8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Homework3</dc:title>
  <dc:creator>Microsoft Office 用户</dc:creator>
  <cp:lastModifiedBy>7025</cp:lastModifiedBy>
  <cp:revision>49</cp:revision>
  <dcterms:created xsi:type="dcterms:W3CDTF">2018-09-27T09:01:03Z</dcterms:created>
  <dcterms:modified xsi:type="dcterms:W3CDTF">2025-11-18T23:04:16Z</dcterms:modified>
</cp:coreProperties>
</file>